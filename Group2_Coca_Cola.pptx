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8" r:id="rId2"/>
    <p:sldId id="272" r:id="rId3"/>
    <p:sldId id="274" r:id="rId4"/>
    <p:sldId id="278" r:id="rId5"/>
    <p:sldId id="275" r:id="rId6"/>
    <p:sldId id="276" r:id="rId7"/>
    <p:sldId id="277" r:id="rId8"/>
    <p:sldId id="27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706" autoAdjust="0"/>
  </p:normalViewPr>
  <p:slideViewPr>
    <p:cSldViewPr snapToGrid="0">
      <p:cViewPr varScale="1">
        <p:scale>
          <a:sx n="63" d="100"/>
          <a:sy n="63" d="100"/>
        </p:scale>
        <p:origin x="916" y="5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68E6F-24CF-4EC7-8693-42662F98BD91}" type="datetime1">
              <a:rPr lang="en-US" smtClean="0"/>
              <a:t>3/7/2025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4B75-E967-4C82-847A-8D5CA3526C96}" type="datetime1">
              <a:rPr lang="en-US" smtClean="0"/>
              <a:t>3/7/2025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103A-9211-4942-BA00-08F6EDAD36F5}" type="datetime1">
              <a:rPr lang="en-US" smtClean="0"/>
              <a:t>3/7/2025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F28-6122-4C8E-A6CF-3B1F1AA328D4}" type="datetime1">
              <a:rPr lang="en-US" smtClean="0"/>
              <a:t>3/7/2025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2C13-CBEC-4112-81A1-EDB1F545825B}" type="datetime1">
              <a:rPr lang="en-US" smtClean="0"/>
              <a:t>3/7/2025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23AAD0-C226-4AF4-88D9-750770C392C9}" type="datetime1">
              <a:rPr lang="en-US" smtClean="0"/>
              <a:t>3/7/2025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26D4-6578-4BCC-BD74-F9C5F0A75364}" type="datetime1">
              <a:rPr lang="en-US" smtClean="0"/>
              <a:t>3/7/2025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838-ECBE-4787-96C8-5926B208E409}" type="datetime1">
              <a:rPr lang="en-US" smtClean="0"/>
              <a:t>3/7/2025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B6CD3A6-F92E-4F5D-A7C7-0023B452962C}" type="datetime1">
              <a:rPr lang="en-US" smtClean="0"/>
              <a:t>3/7/2025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5690" y="3222952"/>
            <a:ext cx="9604310" cy="457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Exploring the Enduring Popularity of Coca-Cola’s Carbonated Drink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5160" y="1258645"/>
            <a:ext cx="8767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+mj-lt"/>
              </a:rPr>
              <a:t>“SHARE A COKE,</a:t>
            </a:r>
          </a:p>
          <a:p>
            <a:r>
              <a:rPr lang="en-US" sz="5400" dirty="0">
                <a:latin typeface="+mj-lt"/>
              </a:rPr>
              <a:t>           SHARE THE FIZZ</a:t>
            </a:r>
            <a:r>
              <a:rPr lang="en-IN" sz="5400" dirty="0">
                <a:latin typeface="+mj-lt"/>
              </a:rPr>
              <a:t>”</a:t>
            </a:r>
            <a:endParaRPr lang="en-US" sz="5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68650" y="2049747"/>
            <a:ext cx="5045337" cy="86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896060" y="2895985"/>
            <a:ext cx="5506124" cy="94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957892" y="3571540"/>
            <a:ext cx="755186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100508" y="4116043"/>
            <a:ext cx="28185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dirty="0"/>
              <a:t>Group – 2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</a:rPr>
              <a:t>Ajay Gaud – 904</a:t>
            </a:r>
          </a:p>
          <a:p>
            <a:pPr algn="r"/>
            <a:r>
              <a:rPr lang="en-US" dirty="0" err="1">
                <a:solidFill>
                  <a:schemeClr val="accent1"/>
                </a:solidFill>
              </a:rPr>
              <a:t>Yash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Kadam</a:t>
            </a:r>
            <a:r>
              <a:rPr lang="en-US" dirty="0">
                <a:solidFill>
                  <a:schemeClr val="accent1"/>
                </a:solidFill>
              </a:rPr>
              <a:t> – 943</a:t>
            </a:r>
          </a:p>
          <a:p>
            <a:pPr algn="r"/>
            <a:r>
              <a:rPr lang="en-US" dirty="0" err="1">
                <a:solidFill>
                  <a:schemeClr val="accent1"/>
                </a:solidFill>
              </a:rPr>
              <a:t>Anshu</a:t>
            </a:r>
            <a:r>
              <a:rPr lang="en-US" dirty="0">
                <a:solidFill>
                  <a:schemeClr val="accent1"/>
                </a:solidFill>
              </a:rPr>
              <a:t> Shah – 945</a:t>
            </a:r>
          </a:p>
          <a:p>
            <a:pPr algn="r"/>
            <a:r>
              <a:rPr lang="en-US" dirty="0">
                <a:solidFill>
                  <a:schemeClr val="accent1"/>
                </a:solidFill>
              </a:rPr>
              <a:t>Rahul </a:t>
            </a:r>
            <a:r>
              <a:rPr lang="en-US" dirty="0" err="1">
                <a:solidFill>
                  <a:schemeClr val="accent1"/>
                </a:solidFill>
              </a:rPr>
              <a:t>Prajapati</a:t>
            </a:r>
            <a:r>
              <a:rPr lang="en-US" dirty="0">
                <a:solidFill>
                  <a:schemeClr val="accent1"/>
                </a:solidFill>
              </a:rPr>
              <a:t> – 946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2A4910-7743-49BF-EF79-A18E3974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17657"/>
            <a:ext cx="43030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+mj-lt"/>
              </a:rPr>
              <a:t>Objective</a:t>
            </a:r>
            <a:endParaRPr lang="en-IN" sz="4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355924"/>
            <a:ext cx="81973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Factors influencing consumer perceptions and preferences regarding Coca-Cola’s Carbonated drink.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517" y="946673"/>
            <a:ext cx="3434529" cy="5249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008427"/>
            <a:ext cx="77239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To assess the likelihood of consumers purchasing Coca-Cola within the next 30 days.</a:t>
            </a: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IN" sz="3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DD346-D920-C11A-F0A2-A6E5E8D8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5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8775" y="999441"/>
            <a:ext cx="4015138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+mj-lt"/>
              </a:rPr>
              <a:t>Data Adequacy</a:t>
            </a:r>
            <a:endParaRPr lang="en-IN" sz="4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4838" y="1957889"/>
            <a:ext cx="148149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+mj-lt"/>
              </a:rPr>
              <a:t>Key Points:</a:t>
            </a:r>
            <a:endParaRPr lang="en-IN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4838" y="2370831"/>
            <a:ext cx="644383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Sample Size – 238</a:t>
            </a:r>
          </a:p>
          <a:p>
            <a:r>
              <a:rPr lang="en-US" dirty="0"/>
              <a:t>Sampling Method – Convenient and Snow Ball Sampling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2528" y="3295945"/>
            <a:ext cx="534655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KMO Test</a:t>
            </a:r>
            <a:r>
              <a:rPr lang="en-US" dirty="0"/>
              <a:t>:</a:t>
            </a:r>
          </a:p>
          <a:p>
            <a:r>
              <a:rPr lang="en-US" dirty="0"/>
              <a:t>value - 0.693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2528" y="4221059"/>
            <a:ext cx="254956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Bartlett test</a:t>
            </a:r>
            <a:r>
              <a:rPr lang="en-IN" dirty="0"/>
              <a:t>:</a:t>
            </a:r>
          </a:p>
          <a:p>
            <a:r>
              <a:rPr lang="en-IN" dirty="0"/>
              <a:t>P-value - &lt;0.001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8752" y="5050270"/>
            <a:ext cx="386516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Data is adequate for factor analysis.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F52A11-A303-2915-4933-9E107DC1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256" y="4229060"/>
            <a:ext cx="2341016" cy="2381083"/>
          </a:xfrm>
          <a:prstGeom prst="rect">
            <a:avLst/>
          </a:prstGeom>
          <a:ln w="228600" cap="sq" cmpd="thickThin">
            <a:solidFill>
              <a:schemeClr val="accent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428FA6-D938-4499-16D1-26DF376E15B8}"/>
              </a:ext>
            </a:extLst>
          </p:cNvPr>
          <p:cNvSpPr txBox="1"/>
          <p:nvPr/>
        </p:nvSpPr>
        <p:spPr>
          <a:xfrm>
            <a:off x="10046803" y="3619110"/>
            <a:ext cx="14959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</a:rPr>
              <a:t>Survey QR</a:t>
            </a:r>
            <a:endParaRPr lang="en-IN" sz="20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861BF7A-6C7D-727A-D76B-62E391BC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2442" y="6387707"/>
            <a:ext cx="918882" cy="222436"/>
          </a:xfrm>
        </p:spPr>
        <p:txBody>
          <a:bodyPr/>
          <a:lstStyle/>
          <a:p>
            <a:fld id="{E31375A4-56A4-47D6-9801-1991572033F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54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8A1669-6263-8796-3195-7C8B1E7F3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382770"/>
              </p:ext>
            </p:extLst>
          </p:nvPr>
        </p:nvGraphicFramePr>
        <p:xfrm>
          <a:off x="127001" y="1026164"/>
          <a:ext cx="7035798" cy="538732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51441">
                  <a:extLst>
                    <a:ext uri="{9D8B030D-6E8A-4147-A177-3AD203B41FA5}">
                      <a16:colId xmlns:a16="http://schemas.microsoft.com/office/drawing/2014/main" val="318402987"/>
                    </a:ext>
                  </a:extLst>
                </a:gridCol>
                <a:gridCol w="528915">
                  <a:extLst>
                    <a:ext uri="{9D8B030D-6E8A-4147-A177-3AD203B41FA5}">
                      <a16:colId xmlns:a16="http://schemas.microsoft.com/office/drawing/2014/main" val="1499947904"/>
                    </a:ext>
                  </a:extLst>
                </a:gridCol>
                <a:gridCol w="1094731">
                  <a:extLst>
                    <a:ext uri="{9D8B030D-6E8A-4147-A177-3AD203B41FA5}">
                      <a16:colId xmlns:a16="http://schemas.microsoft.com/office/drawing/2014/main" val="1745248640"/>
                    </a:ext>
                  </a:extLst>
                </a:gridCol>
                <a:gridCol w="1143932">
                  <a:extLst>
                    <a:ext uri="{9D8B030D-6E8A-4147-A177-3AD203B41FA5}">
                      <a16:colId xmlns:a16="http://schemas.microsoft.com/office/drawing/2014/main" val="1250413537"/>
                    </a:ext>
                  </a:extLst>
                </a:gridCol>
                <a:gridCol w="528915">
                  <a:extLst>
                    <a:ext uri="{9D8B030D-6E8A-4147-A177-3AD203B41FA5}">
                      <a16:colId xmlns:a16="http://schemas.microsoft.com/office/drawing/2014/main" val="1609373433"/>
                    </a:ext>
                  </a:extLst>
                </a:gridCol>
                <a:gridCol w="1143932">
                  <a:extLst>
                    <a:ext uri="{9D8B030D-6E8A-4147-A177-3AD203B41FA5}">
                      <a16:colId xmlns:a16="http://schemas.microsoft.com/office/drawing/2014/main" val="2078054634"/>
                    </a:ext>
                  </a:extLst>
                </a:gridCol>
                <a:gridCol w="1143932">
                  <a:extLst>
                    <a:ext uri="{9D8B030D-6E8A-4147-A177-3AD203B41FA5}">
                      <a16:colId xmlns:a16="http://schemas.microsoft.com/office/drawing/2014/main" val="3099342911"/>
                    </a:ext>
                  </a:extLst>
                </a:gridCol>
              </a:tblGrid>
              <a:tr h="404464"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b="1" u="none" strike="noStrike">
                          <a:effectLst/>
                        </a:rPr>
                        <a:t> Initial Eigenvalues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 Extraction Sums of Squared Loadings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292388"/>
                  </a:ext>
                </a:extLst>
              </a:tr>
              <a:tr h="40446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Component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>
                          <a:effectLst/>
                        </a:rPr>
                        <a:t>% of Variance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>
                          <a:effectLst/>
                        </a:rPr>
                        <a:t>Cumulative %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Total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>
                          <a:effectLst/>
                        </a:rPr>
                        <a:t>% of Variance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>
                          <a:effectLst/>
                        </a:rPr>
                        <a:t>Cumulative %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/>
                </a:tc>
                <a:extLst>
                  <a:ext uri="{0D108BD9-81ED-4DB2-BD59-A6C34878D82A}">
                    <a16:rowId xmlns:a16="http://schemas.microsoft.com/office/drawing/2014/main" val="3546756086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3.193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15.205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15.205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3.193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15.205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15.205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4154003022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effectLst/>
                        </a:rPr>
                        <a:t>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1.505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7.169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22.373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1.505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7.169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22.373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259803587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1.378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6.562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28.935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1.378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6.562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28.935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3021962949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1.314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6.256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35.191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1.314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6.256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35.191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389789638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1.23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5.859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41.05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1.23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5.859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41.05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730608330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1.166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5.552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46.602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1.166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5.552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46.602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2858766267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1.063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5.063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51.665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1.063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5.063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51.665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2593810811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0.978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4.658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56.322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532570428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0.95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4.523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60.845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4092493778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0.916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4.363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65.209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2464693102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0.89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4.239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69.448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463685283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0.819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3.902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73.35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2654307628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0.794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3.782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77.132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1693707850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0.746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3.552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effectLst/>
                        </a:rPr>
                        <a:t>80.684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561991377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0.711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3.387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84.071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3988444780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0.664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3.162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87.232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1234271208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0.619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2.948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90.181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2822266009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0.573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2.729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92.91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1148701800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0.544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2.589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95.499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184792204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0.507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2.414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97.913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4171898338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0.438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>
                          <a:effectLst/>
                        </a:rPr>
                        <a:t>2.087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u="none" strike="noStrike" dirty="0">
                          <a:effectLst/>
                        </a:rPr>
                        <a:t>100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7" marR="5317" marT="5317" marB="0" anchor="b"/>
                </a:tc>
                <a:extLst>
                  <a:ext uri="{0D108BD9-81ED-4DB2-BD59-A6C34878D82A}">
                    <a16:rowId xmlns:a16="http://schemas.microsoft.com/office/drawing/2014/main" val="3177040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C45884-939C-511A-38E1-6810487020A1}"/>
              </a:ext>
            </a:extLst>
          </p:cNvPr>
          <p:cNvSpPr txBox="1"/>
          <p:nvPr/>
        </p:nvSpPr>
        <p:spPr>
          <a:xfrm>
            <a:off x="2647950" y="348481"/>
            <a:ext cx="3295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Total Variance Explained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029E3-6B62-047A-28F1-7617357A6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0" y="1026164"/>
            <a:ext cx="4724399" cy="527303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22AD5-FF2E-E922-6FFA-471FE331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7172" y="302639"/>
            <a:ext cx="42338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+mj-lt"/>
              </a:rPr>
              <a:t>Factors Loading</a:t>
            </a:r>
            <a:endParaRPr lang="en-IN" sz="4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30475" y="24635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889380"/>
              </p:ext>
            </p:extLst>
          </p:nvPr>
        </p:nvGraphicFramePr>
        <p:xfrm>
          <a:off x="568537" y="1072080"/>
          <a:ext cx="10554870" cy="568372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34837">
                  <a:extLst>
                    <a:ext uri="{9D8B030D-6E8A-4147-A177-3AD203B41FA5}">
                      <a16:colId xmlns:a16="http://schemas.microsoft.com/office/drawing/2014/main" val="333577338"/>
                    </a:ext>
                  </a:extLst>
                </a:gridCol>
                <a:gridCol w="1096684">
                  <a:extLst>
                    <a:ext uri="{9D8B030D-6E8A-4147-A177-3AD203B41FA5}">
                      <a16:colId xmlns:a16="http://schemas.microsoft.com/office/drawing/2014/main" val="3450420830"/>
                    </a:ext>
                  </a:extLst>
                </a:gridCol>
                <a:gridCol w="1246493">
                  <a:extLst>
                    <a:ext uri="{9D8B030D-6E8A-4147-A177-3AD203B41FA5}">
                      <a16:colId xmlns:a16="http://schemas.microsoft.com/office/drawing/2014/main" val="155185380"/>
                    </a:ext>
                  </a:extLst>
                </a:gridCol>
                <a:gridCol w="906626">
                  <a:extLst>
                    <a:ext uri="{9D8B030D-6E8A-4147-A177-3AD203B41FA5}">
                      <a16:colId xmlns:a16="http://schemas.microsoft.com/office/drawing/2014/main" val="1643814210"/>
                    </a:ext>
                  </a:extLst>
                </a:gridCol>
                <a:gridCol w="1720485">
                  <a:extLst>
                    <a:ext uri="{9D8B030D-6E8A-4147-A177-3AD203B41FA5}">
                      <a16:colId xmlns:a16="http://schemas.microsoft.com/office/drawing/2014/main" val="4288589238"/>
                    </a:ext>
                  </a:extLst>
                </a:gridCol>
                <a:gridCol w="1095035">
                  <a:extLst>
                    <a:ext uri="{9D8B030D-6E8A-4147-A177-3AD203B41FA5}">
                      <a16:colId xmlns:a16="http://schemas.microsoft.com/office/drawing/2014/main" val="3592735686"/>
                    </a:ext>
                  </a:extLst>
                </a:gridCol>
                <a:gridCol w="1043492">
                  <a:extLst>
                    <a:ext uri="{9D8B030D-6E8A-4147-A177-3AD203B41FA5}">
                      <a16:colId xmlns:a16="http://schemas.microsoft.com/office/drawing/2014/main" val="2621435368"/>
                    </a:ext>
                  </a:extLst>
                </a:gridCol>
                <a:gridCol w="1011218">
                  <a:extLst>
                    <a:ext uri="{9D8B030D-6E8A-4147-A177-3AD203B41FA5}">
                      <a16:colId xmlns:a16="http://schemas.microsoft.com/office/drawing/2014/main" val="3520103729"/>
                    </a:ext>
                  </a:extLst>
                </a:gridCol>
              </a:tblGrid>
              <a:tr h="252298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Rotated Component </a:t>
                      </a:r>
                      <a:r>
                        <a:rPr lang="en-IN" sz="1200" u="none" strike="noStrike" dirty="0" err="1">
                          <a:effectLst/>
                        </a:rPr>
                        <a:t>Matrix</a:t>
                      </a:r>
                      <a:r>
                        <a:rPr lang="en-IN" sz="1200" u="none" strike="noStrike" baseline="30000" dirty="0" err="1">
                          <a:effectLst/>
                        </a:rPr>
                        <a:t>a</a:t>
                      </a:r>
                      <a:endParaRPr lang="en-IN" sz="1200" b="1" i="0" u="none" strike="noStrike" dirty="0">
                        <a:solidFill>
                          <a:srgbClr val="993300"/>
                        </a:solidFill>
                        <a:effectLst/>
                        <a:latin typeface="Arial Bold" panose="020B0704020202020204" pitchFamily="34" charset="0"/>
                      </a:endParaRPr>
                    </a:p>
                  </a:txBody>
                  <a:tcPr marL="6945" marR="6945" marT="694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328408"/>
                  </a:ext>
                </a:extLst>
              </a:tr>
              <a:tr h="189224">
                <a:tc rowSpan="2"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Component</a:t>
                      </a:r>
                      <a:endParaRPr lang="en-IN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324721"/>
                  </a:ext>
                </a:extLst>
              </a:tr>
              <a:tr h="18021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Brand Promotion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Value &amp; Affordability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Packaging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Advertisement &amp; Lifestyle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Product Availability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Purchase decision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Taste Preference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 anchor="b"/>
                </a:tc>
                <a:extLst>
                  <a:ext uri="{0D108BD9-81ED-4DB2-BD59-A6C34878D82A}">
                    <a16:rowId xmlns:a16="http://schemas.microsoft.com/office/drawing/2014/main" val="3236227418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sweetness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0.206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966007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err="1">
                          <a:effectLst/>
                        </a:rPr>
                        <a:t>taste_consistency_india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0.801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95065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err="1">
                          <a:effectLst/>
                        </a:rPr>
                        <a:t>taste_comparision_other_brand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0.242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645305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affordability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0.702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950534773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err="1">
                          <a:effectLst/>
                        </a:rPr>
                        <a:t>value_for_money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0.472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771319606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price_consideration_purchase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0.585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4052508789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positive_brand_image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0.662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2943164886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brand_trust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0.589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908354875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recommend_on_brand_reputation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0.608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307477062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availability_local_store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0.567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3632798664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availability_across_urban_rural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0.649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274899192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stock_availability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0.570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658146257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promotion_discount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0.722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376586823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err="1">
                          <a:effectLst/>
                        </a:rPr>
                        <a:t>promotional_offers_encourages_purchase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0.592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244748263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promotional_comparition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0.328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389944936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design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0.515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2699825906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importance_of_packaging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0.687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3705150213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packaging_preservation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0.795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3552474916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quality_of_advertisement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0.609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766831690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influence_of_advertisement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0.437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1572590314"/>
                  </a:ext>
                </a:extLst>
              </a:tr>
              <a:tr h="18021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advertisment_personal_value_lifestyle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5" marR="6945" marT="694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0.608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extLst>
                  <a:ext uri="{0D108BD9-81ED-4DB2-BD59-A6C34878D82A}">
                    <a16:rowId xmlns:a16="http://schemas.microsoft.com/office/drawing/2014/main" val="3375883098"/>
                  </a:ext>
                </a:extLst>
              </a:tr>
              <a:tr h="364925">
                <a:tc gridSpan="8"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Extraction Method: Principal Component Analysis. 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en-US" sz="1200" u="none" strike="noStrike" dirty="0">
                          <a:effectLst/>
                        </a:rPr>
                        <a:t> Rotation Method: </a:t>
                      </a:r>
                      <a:r>
                        <a:rPr lang="en-US" sz="1200" u="none" strike="noStrike" dirty="0" err="1">
                          <a:effectLst/>
                        </a:rPr>
                        <a:t>Equamax</a:t>
                      </a:r>
                      <a:r>
                        <a:rPr lang="en-US" sz="1200" u="none" strike="noStrike" dirty="0">
                          <a:effectLst/>
                        </a:rPr>
                        <a:t> with Kaiser Normalization.</a:t>
                      </a:r>
                      <a:endParaRPr lang="en-US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799099"/>
                  </a:ext>
                </a:extLst>
              </a:tr>
              <a:tr h="104419">
                <a:tc gridSpan="8"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</a:rPr>
                        <a:t>a. Rotation converged in 26 iterations.</a:t>
                      </a:r>
                      <a:endParaRPr lang="en-US" sz="9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945" marR="6945" marT="694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05241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CC7C9-8B48-C77B-BF9E-1A9ABB74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4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8767" y="80391"/>
            <a:ext cx="81211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+mj-lt"/>
              </a:rPr>
              <a:t>Multinomial Logistic Regression</a:t>
            </a:r>
            <a:endParaRPr lang="en-IN" sz="4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D4F06-81D6-B8EE-B4D3-94BECBE5ADEE}"/>
              </a:ext>
            </a:extLst>
          </p:cNvPr>
          <p:cNvSpPr txBox="1"/>
          <p:nvPr/>
        </p:nvSpPr>
        <p:spPr>
          <a:xfrm>
            <a:off x="703726" y="849832"/>
            <a:ext cx="107845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j-lt"/>
              </a:rPr>
              <a:t>Objectives</a:t>
            </a:r>
            <a:r>
              <a:rPr lang="en-US" b="1" dirty="0"/>
              <a:t>: </a:t>
            </a:r>
            <a:r>
              <a:rPr lang="en-US" sz="1800" dirty="0"/>
              <a:t>To assess the likelihood of consumers purchasing Coca-Cola within the next 30 days.</a:t>
            </a:r>
          </a:p>
          <a:p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1BADF-1191-7C13-728E-011FB30A9B11}"/>
              </a:ext>
            </a:extLst>
          </p:cNvPr>
          <p:cNvSpPr txBox="1"/>
          <p:nvPr/>
        </p:nvSpPr>
        <p:spPr>
          <a:xfrm>
            <a:off x="703726" y="1619273"/>
            <a:ext cx="101776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j-lt"/>
              </a:rPr>
              <a:t>Dependent Variable</a:t>
            </a:r>
            <a:r>
              <a:rPr lang="en-US" b="1" dirty="0"/>
              <a:t>:</a:t>
            </a:r>
          </a:p>
          <a:p>
            <a:r>
              <a:rPr lang="en-US" b="1" dirty="0"/>
              <a:t>Likelihood Of Purchase ( In next 30 days 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000" b="1" dirty="0">
                <a:solidFill>
                  <a:srgbClr val="C00000"/>
                </a:solidFill>
                <a:latin typeface="+mj-lt"/>
              </a:rPr>
              <a:t>Independent Variable</a:t>
            </a:r>
            <a:r>
              <a:rPr lang="en-US" sz="2000" b="1" dirty="0">
                <a:solidFill>
                  <a:schemeClr val="tx2"/>
                </a:solidFill>
                <a:latin typeface="+mj-lt"/>
              </a:rPr>
              <a:t>:</a:t>
            </a:r>
          </a:p>
          <a:p>
            <a:r>
              <a:rPr lang="en-US" b="1" dirty="0"/>
              <a:t>Brand Promotion</a:t>
            </a:r>
          </a:p>
          <a:p>
            <a:r>
              <a:rPr lang="en-US" b="1" dirty="0"/>
              <a:t>Value &amp; Affordability</a:t>
            </a:r>
          </a:p>
          <a:p>
            <a:r>
              <a:rPr lang="en-US" b="1" dirty="0"/>
              <a:t>Packaging</a:t>
            </a:r>
          </a:p>
          <a:p>
            <a:r>
              <a:rPr lang="en-US" b="1" dirty="0"/>
              <a:t>Advertisement &amp; Lifestyle</a:t>
            </a:r>
          </a:p>
          <a:p>
            <a:r>
              <a:rPr lang="en-US" b="1" dirty="0"/>
              <a:t>Product Availability</a:t>
            </a:r>
          </a:p>
          <a:p>
            <a:r>
              <a:rPr lang="en-US" b="1" dirty="0"/>
              <a:t>Purchase Decision</a:t>
            </a:r>
          </a:p>
          <a:p>
            <a:r>
              <a:rPr lang="en-US" b="1" dirty="0"/>
              <a:t>Taste Preference</a:t>
            </a:r>
          </a:p>
          <a:p>
            <a:endParaRPr lang="en-IN" sz="2000" b="1" dirty="0">
              <a:solidFill>
                <a:schemeClr val="tx2"/>
              </a:solidFill>
              <a:latin typeface="+mj-lt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+mj-lt"/>
              </a:rPr>
              <a:t>Base Case</a:t>
            </a:r>
            <a:r>
              <a:rPr lang="en-IN" sz="2000" b="1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IN" sz="2000" dirty="0">
                <a:solidFill>
                  <a:schemeClr val="tx2"/>
                </a:solidFill>
                <a:latin typeface="+mj-lt"/>
              </a:rPr>
              <a:t>Neutral</a:t>
            </a:r>
            <a:endParaRPr lang="en-US" sz="20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3599F8-5142-6AC3-40E8-0AF1E1C2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4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38993-033D-F33F-351A-67D129F2E7E9}"/>
              </a:ext>
            </a:extLst>
          </p:cNvPr>
          <p:cNvSpPr txBox="1"/>
          <p:nvPr/>
        </p:nvSpPr>
        <p:spPr>
          <a:xfrm>
            <a:off x="520846" y="233814"/>
            <a:ext cx="3223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+mj-lt"/>
              </a:rPr>
              <a:t>Parameter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  <a:latin typeface="+mj-lt"/>
              </a:rPr>
              <a:t>Estimates</a:t>
            </a:r>
            <a:endParaRPr lang="en-IN" sz="2000" b="1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922EF8-8E6C-B005-EC79-B094B051F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964111"/>
              </p:ext>
            </p:extLst>
          </p:nvPr>
        </p:nvGraphicFramePr>
        <p:xfrm>
          <a:off x="828842" y="902101"/>
          <a:ext cx="8128000" cy="1513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26114">
                  <a:extLst>
                    <a:ext uri="{9D8B030D-6E8A-4147-A177-3AD203B41FA5}">
                      <a16:colId xmlns:a16="http://schemas.microsoft.com/office/drawing/2014/main" val="1575892870"/>
                    </a:ext>
                  </a:extLst>
                </a:gridCol>
                <a:gridCol w="1125086">
                  <a:extLst>
                    <a:ext uri="{9D8B030D-6E8A-4147-A177-3AD203B41FA5}">
                      <a16:colId xmlns:a16="http://schemas.microsoft.com/office/drawing/2014/main" val="4240105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056832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747526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3622973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Factor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Very Unlikely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Unlikely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Likely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Very Likely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110813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Brand Promotion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-0.2984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-0.3993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0.3155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0.2287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397125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Value &amp; Affordability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-0.2944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-0.0144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0.3157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-0.0551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749533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Packaging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-0.1666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-0.4946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0.4186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0.2244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26405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Advertisement &amp; Lifestyle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-0.3917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-0.2052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0.1389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0.2148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770440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Product Availability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-0.0636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-0.4399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-0.0106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0.7147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671869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Purchase Decision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0.0922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-0.323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0.3047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0.1697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90474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Taste Preference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-0.2141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-0.0872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>
                          <a:effectLst/>
                        </a:rPr>
                        <a:t>0.1985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u="none" strike="noStrike" dirty="0">
                          <a:effectLst/>
                        </a:rPr>
                        <a:t>0.2397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11324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6F8623-2A46-25F8-502D-D10E965CF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86693"/>
              </p:ext>
            </p:extLst>
          </p:nvPr>
        </p:nvGraphicFramePr>
        <p:xfrm>
          <a:off x="9100152" y="902100"/>
          <a:ext cx="2363536" cy="1513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64648">
                  <a:extLst>
                    <a:ext uri="{9D8B030D-6E8A-4147-A177-3AD203B41FA5}">
                      <a16:colId xmlns:a16="http://schemas.microsoft.com/office/drawing/2014/main" val="3960446875"/>
                    </a:ext>
                  </a:extLst>
                </a:gridCol>
                <a:gridCol w="998888">
                  <a:extLst>
                    <a:ext uri="{9D8B030D-6E8A-4147-A177-3AD203B41FA5}">
                      <a16:colId xmlns:a16="http://schemas.microsoft.com/office/drawing/2014/main" val="2871281562"/>
                    </a:ext>
                  </a:extLst>
                </a:gridCol>
              </a:tblGrid>
              <a:tr h="3027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Category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Intercept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2331111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>
                          <a:effectLst/>
                        </a:rPr>
                        <a:t>Very Unlikely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0.6171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96460114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>
                          <a:effectLst/>
                        </a:rPr>
                        <a:t>Unlikely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0.5967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35707914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>
                          <a:effectLst/>
                        </a:rPr>
                        <a:t>Likely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-0.205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0614909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Very Likely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-1.1015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024242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1D0EF0-1F95-CCCD-F936-F06F4833F4E2}"/>
              </a:ext>
            </a:extLst>
          </p:cNvPr>
          <p:cNvSpPr txBox="1"/>
          <p:nvPr/>
        </p:nvSpPr>
        <p:spPr>
          <a:xfrm>
            <a:off x="828842" y="2684118"/>
            <a:ext cx="2559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j-lt"/>
              </a:rPr>
              <a:t>Odds Ratio</a:t>
            </a:r>
            <a:endParaRPr lang="en-IN" sz="2000" b="1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E65629-693B-30D5-2D09-F64EFA0B7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71671"/>
              </p:ext>
            </p:extLst>
          </p:nvPr>
        </p:nvGraphicFramePr>
        <p:xfrm>
          <a:off x="828842" y="3352405"/>
          <a:ext cx="8128000" cy="16967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58737">
                  <a:extLst>
                    <a:ext uri="{9D8B030D-6E8A-4147-A177-3AD203B41FA5}">
                      <a16:colId xmlns:a16="http://schemas.microsoft.com/office/drawing/2014/main" val="3933574570"/>
                    </a:ext>
                  </a:extLst>
                </a:gridCol>
                <a:gridCol w="1192463">
                  <a:extLst>
                    <a:ext uri="{9D8B030D-6E8A-4147-A177-3AD203B41FA5}">
                      <a16:colId xmlns:a16="http://schemas.microsoft.com/office/drawing/2014/main" val="42697302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99459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684078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0842487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Factor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Very Unlikely (OR)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Unlikely (OR)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Likely (OR)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Very Likely (OR)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934153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Brand Promotion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0.74 (-26%)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0.67 (-33%)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1.37 (+37%)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1.26 (+26%)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541406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Value &amp; Affordability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0.74 (-26%)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0.99 (-1%)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1.37 (+37%)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0.95 (-5%)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64303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Packaging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0.85 (-15%)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0.61 (-39%)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1.52 (+52%)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1.25 (+25%)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76493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Advertisement &amp; Lifestyle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0.68 (-32%)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0.81 (-19%)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1.15 (+15%)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1.24 (+24%)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53495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Product Availability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0.94 (-6%)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0.64 (-36%)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0.99 (-1%)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2.04 (+104%)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405702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effectLst/>
                        </a:rPr>
                        <a:t>Purchase Decision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1.09 (+9%)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0.72 (-28%)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1.36 (+36%)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1.19 (+19%)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711274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Taste Preference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0.81 (-19%)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0.92 (-8%)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1.22 (+22%)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1.27 (+27%)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33013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1DB930-844F-139A-7181-6B100624C1DD}"/>
              </a:ext>
            </a:extLst>
          </p:cNvPr>
          <p:cNvSpPr txBox="1"/>
          <p:nvPr/>
        </p:nvSpPr>
        <p:spPr>
          <a:xfrm>
            <a:off x="828842" y="5223584"/>
            <a:ext cx="4840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j-lt"/>
              </a:rPr>
              <a:t>Accuracy: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+mj-lt"/>
              </a:rPr>
              <a:t>0.5018 (50.18%)</a:t>
            </a:r>
            <a:endParaRPr lang="en-US" sz="16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037180-FC98-EB2B-FEF7-399F502B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7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81A1-0299-27E2-A759-B0400ABA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84650-A00B-5941-3D42-1796F3CC5F3F}"/>
              </a:ext>
            </a:extLst>
          </p:cNvPr>
          <p:cNvSpPr txBox="1"/>
          <p:nvPr/>
        </p:nvSpPr>
        <p:spPr>
          <a:xfrm>
            <a:off x="4197697" y="253065"/>
            <a:ext cx="322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+mj-lt"/>
              </a:rPr>
              <a:t>Conclusion</a:t>
            </a:r>
            <a:endParaRPr lang="en-IN" sz="28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E0C32-5CBD-B0B6-7EB9-0422FCDF7657}"/>
              </a:ext>
            </a:extLst>
          </p:cNvPr>
          <p:cNvSpPr txBox="1"/>
          <p:nvPr/>
        </p:nvSpPr>
        <p:spPr>
          <a:xfrm>
            <a:off x="695425" y="1011000"/>
            <a:ext cx="10527632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Focus on Product Availability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Since it has the highest impact on "Very Likely" purchases, ensuring wide availability can significantly boost sales.</a:t>
            </a:r>
          </a:p>
          <a:p>
            <a:endParaRPr lang="en-US" dirty="0">
              <a:solidFill>
                <a:schemeClr val="tx2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Improve Packaging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The high positive impact of packaging suggests that investment in attractive and functional packaging will likely enhance customer preference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.</a:t>
            </a:r>
          </a:p>
          <a:p>
            <a:endParaRPr lang="en-US" sz="2000" dirty="0">
              <a:solidFill>
                <a:schemeClr val="tx2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Enhance Brand Promotion &amp; Lifestyle Advertising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These factors show positive influence in the higher likelihood categories, meaning marketing campaigns should emphasize branding and lifestyle associations.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Refine Pricing Strategy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Since Value &amp; Affordability has mixed results, careful pricing strategies should be used to balance affordability and premium branding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.</a:t>
            </a:r>
          </a:p>
          <a:p>
            <a:endParaRPr lang="en-US" sz="2000" dirty="0">
              <a:solidFill>
                <a:schemeClr val="tx2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overall accuracy of the model is </a:t>
            </a:r>
            <a:r>
              <a:rPr lang="en-US" sz="2000" b="1" dirty="0"/>
              <a:t>50.18%</a:t>
            </a:r>
            <a:r>
              <a:rPr lang="en-US" sz="2000" dirty="0"/>
              <a:t>, indicating moderate predictive power.</a:t>
            </a:r>
            <a:endParaRPr lang="en-US" sz="2000" dirty="0">
              <a:solidFill>
                <a:schemeClr val="tx2"/>
              </a:solidFill>
              <a:latin typeface="+mj-lt"/>
            </a:endParaRPr>
          </a:p>
          <a:p>
            <a:endParaRPr lang="en-US" sz="20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9733F99-61DD-9C93-4F99-5E7E6FF5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88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25920C-501F-0817-5E9F-1F5B36B6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428240"/>
            <a:ext cx="9601200" cy="2856533"/>
          </a:xfrm>
        </p:spPr>
        <p:txBody>
          <a:bodyPr/>
          <a:lstStyle/>
          <a:p>
            <a:r>
              <a:rPr lang="en-US" dirty="0"/>
              <a:t>Thank you 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388</TotalTime>
  <Words>934</Words>
  <Application>Microsoft Office PowerPoint</Application>
  <PresentationFormat>Widescreen</PresentationFormat>
  <Paragraphs>444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Bold</vt:lpstr>
      <vt:lpstr>Calibri</vt:lpstr>
      <vt:lpstr>Wingdings</vt:lpstr>
      <vt:lpstr>Diamond Grid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DSAI</dc:creator>
  <cp:lastModifiedBy>Rahul</cp:lastModifiedBy>
  <cp:revision>24</cp:revision>
  <dcterms:created xsi:type="dcterms:W3CDTF">2025-02-28T06:55:04Z</dcterms:created>
  <dcterms:modified xsi:type="dcterms:W3CDTF">2025-03-07T15:59:22Z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